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903BAA-9B9C-42A1-9BEF-B0495CF2C287}">
  <a:tblStyle styleId="{94903BAA-9B9C-42A1-9BEF-B0495CF2C2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19200" y="2772816"/>
            <a:ext cx="8291036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E-Commerce Customer Behavior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Analysis using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00275"/>
            <a:ext cx="5214937" cy="146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200275"/>
            <a:ext cx="5214937" cy="146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00487"/>
            <a:ext cx="5214937" cy="146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00487"/>
            <a:ext cx="5214937" cy="146208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66825" y="2438400"/>
            <a:ext cx="469558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Business Problem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2781300"/>
            <a:ext cx="473868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E-commerce needs actionable analytics on user purchasing habits to boost user retention, configure targeted coupon plans, and define loyal customer bases.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9887" y="2438400"/>
            <a:ext cx="469558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53187" y="2781300"/>
            <a:ext cx="473868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Investigate transactions to measure user retention rates, isolate segments at high risk of churning, and develop optimized customer-focused retention actions.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47775" y="4138612"/>
            <a:ext cx="47155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Dataset Overview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4481512"/>
            <a:ext cx="473868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Fully relational structure tracking customers, transactional order histories, itemized cart listings, category directories, reviews, and post-order returns.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67512" y="4138612"/>
            <a:ext cx="46455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Technology Used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53187" y="4481512"/>
            <a:ext cx="473868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development managed using SQL (MySQL/SQL Server), spreadsheet consolidation in Excel, and presentation views via interactive Power BI models.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24574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53187" y="24574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0125" y="41576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53187" y="4157662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Business Problem</a:t>
            </a:r>
            <a:endParaRPr dirty="0"/>
          </a:p>
        </p:txBody>
      </p:sp>
      <p:sp>
        <p:nvSpPr>
          <p:cNvPr id="116" name="Google Shape;116;p15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104900" y="2923282"/>
            <a:ext cx="822960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"An e-commerce company wants to understand customer purchasing behavior to improve customer retention, increase revenue, optimize coupon campaigns, and identify high-value customers."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1675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Database Design (ER Diagram)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2124075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robust relational schema was designed to cleanly manage transaction properties and secure data integrity across the operational pipeline.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95375" y="30003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Normalized Tables: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Minimizes redundant entity mappings across users and orders.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95375" y="366712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Foreign Key Constraints: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Maintains strict cascading consistency across transactions.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95375" y="43338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Indexing Hooks: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Optimized keys on customer IDs and timestamp paths for rapid scale query actions.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7F47F-2188-909C-7EB2-956F463EC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1" y="1375682"/>
            <a:ext cx="6286500" cy="43066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Database Relationships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62000" y="250983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schema incorporates clean parent-child rules to reflect real-world customer journey interactions: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95375" y="320516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Customers &amp; Orders: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customer can place many orders (1:N relationship mapping).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95375" y="387191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Orders &amp; Products: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order contains multiple products (M:N via transaction line items).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95375" y="453866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Products &amp; Categories: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product belongs to one specific product category.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19875" y="2833687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Products &amp; Reviews: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product can receive multiple customer satisfaction reviews.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19875" y="3500437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Orders &amp; Returns: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order may record up to one return instance (1:1 relation logic).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 Skills Demonstrated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5912" y="29432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922496" y="3324225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Joins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4287" y="294322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3094196" y="3324225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Aggregate Functions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76937" y="29432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265896" y="3324225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Subqueries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15300" y="29432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437596" y="3324225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CTEs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20337" y="29432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609296" y="3324225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Window Functions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9250" y="4076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22496" y="4457700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Views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24287" y="407670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3094196" y="4457700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Indexes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95987" y="407670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265896" y="4457700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Stored Procedures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15300" y="40767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437596" y="4457700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Triggers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06050" y="4076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609296" y="4457700"/>
            <a:ext cx="166020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Transactions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4890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1660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8431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202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51973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8743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45514" y="36647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Workflow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62000" y="3855243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62000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Setup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2308770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 Design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3855541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 Tables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402312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Cleaning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949082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Queries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495853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Insights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0042624" y="4188618"/>
            <a:ext cx="138678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Recommendations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 Concepts Applied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762000" y="2459831"/>
          <a:ext cx="10668000" cy="2643150"/>
        </p:xfrm>
        <a:graphic>
          <a:graphicData uri="http://schemas.openxmlformats.org/drawingml/2006/table">
            <a:tbl>
              <a:tblPr firstRow="1" bandRow="1">
                <a:noFill/>
                <a:tableStyleId>{94903BAA-9B9C-42A1-9BEF-B0495CF2C287}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SQL Concept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Project Implementation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Used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Inner / Left Joins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Stitch customer records across sales, payments, and product tables.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 By &amp; Having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 sales indexes and filter active regions using specific spending bounds.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Case Logic Statements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Categorize customers into distinct loyalty tiers based on lifetime buy value.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CTEs / Subqueries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Compile sequential isolated data scopes prior to ranking high earners.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Stored Procedures / Triggers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 transactional audit checks and daily reporting processing.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2" name="Google Shape;202;p20"/>
          <p:cNvSpPr/>
          <p:nvPr/>
        </p:nvSpPr>
        <p:spPr>
          <a:xfrm>
            <a:off x="762000" y="289798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962400" y="289798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9296400" y="289798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762000" y="333613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962400" y="333613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9296400" y="333613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62000" y="377428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962400" y="377428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9296400" y="377428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762000" y="421243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962400" y="421243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296400" y="421243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62000" y="465058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962400" y="465058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9296400" y="465058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62000" y="5088731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962400" y="508873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9296400" y="508873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9409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43791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0646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5028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48172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0646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5028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39409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43791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6050" y="4817268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8592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8531" y="168592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168592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1593" y="168592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87667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8531" y="387667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3876675"/>
            <a:ext cx="248840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1593" y="3876675"/>
            <a:ext cx="2488406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Questions Solved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00125" y="249555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 Customers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00125" y="279082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Extracted top 1% consumers fueling high aggregate platform sales volume.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3726656" y="249555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Membership Tiers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3726656" y="279082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Evaluated behavioral properties dividing Standard, Gold, and VIP bases.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453187" y="249555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Churn Metrics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453187" y="279082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Isolated customer groups exhibiting zero purchases in 90+ days.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179718" y="249555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Coupon Insights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179718" y="279082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Identified direct patterns between campaign runs and basket value shifts.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00125" y="468630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CLV Analysis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00125" y="4981575"/>
            <a:ext cx="20121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Analyzed predictable revenue value per customer lifecycle.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3726656" y="468630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 Ratings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3726656" y="498157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Linked quality scores with categories to isolate low-performance lines.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453187" y="468630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Seasonal Patterns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453187" y="498157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Isolated calendar periods capturing extreme peak-transaction surges.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179718" y="4686300"/>
            <a:ext cx="21127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Return Auditing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179718" y="4981575"/>
            <a:ext cx="201215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Exposed product refund variables to highlight inventory errors.</a:t>
            </a:r>
            <a:endParaRPr/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20097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26656" y="20097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53187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79718" y="20097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0125" y="42005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26656" y="42005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53187" y="42005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179718" y="4200525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 Query Example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762000" y="2237333"/>
            <a:ext cx="51435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CTE and RANK() Query for Top 10 Spenders: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286500" y="2237333"/>
            <a:ext cx="51435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Query Output Preview: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286500" y="4913858"/>
            <a:ext cx="514350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Using a CTE separates the aggregation step from analytical ranking, enabling clean downstream report integrations.</a:t>
            </a:r>
            <a:endParaRPr/>
          </a:p>
        </p:txBody>
      </p:sp>
      <p:graphicFrame>
        <p:nvGraphicFramePr>
          <p:cNvPr id="279" name="Google Shape;279;p22"/>
          <p:cNvGraphicFramePr/>
          <p:nvPr/>
        </p:nvGraphicFramePr>
        <p:xfrm>
          <a:off x="6286500" y="2565945"/>
          <a:ext cx="5143500" cy="2205000"/>
        </p:xfrm>
        <a:graphic>
          <a:graphicData uri="http://schemas.openxmlformats.org/drawingml/2006/table">
            <a:tbl>
              <a:tblPr firstRow="1" bandRow="1">
                <a:noFill/>
                <a:tableStyleId>{94903BAA-9B9C-42A1-9BEF-B0495CF2C287}</a:tableStyleId>
              </a:tblPr>
              <a:tblGrid>
                <a:gridCol w="173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Cust.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Total Spent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Rank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#C88219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$14,250.00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#C55121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$12,890.00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#C90104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$11,400.00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#C42129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$10,150.00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0" name="Google Shape;280;p22"/>
          <p:cNvSpPr/>
          <p:nvPr/>
        </p:nvSpPr>
        <p:spPr>
          <a:xfrm>
            <a:off x="6286500" y="3004095"/>
            <a:ext cx="1731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018115" y="300409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0109745" y="3004095"/>
            <a:ext cx="1320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286500" y="3442245"/>
            <a:ext cx="1731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8018115" y="344224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10109745" y="3442245"/>
            <a:ext cx="1320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6286500" y="3880395"/>
            <a:ext cx="1731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8018115" y="388039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10109745" y="3880395"/>
            <a:ext cx="1320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286500" y="4318545"/>
            <a:ext cx="1731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8018115" y="431854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10109745" y="4318545"/>
            <a:ext cx="1320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6286500" y="4756695"/>
            <a:ext cx="1731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8018115" y="475669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0109745" y="4756695"/>
            <a:ext cx="1320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Analytics Insights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1095375" y="2600325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Silver Tier Domination: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Middle-tier "Silver" customers generated 48% of overall platform transaction values, outpacing "Gold" tier spenders.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095375" y="3524250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Holiday Purchase Spike: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E-commerce metrics indicate peak sales occur in Q4, driven by seasonal holiday product lines.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762001" y="1514475"/>
            <a:ext cx="10668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Returns Root Cause: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"Wrong Item Shipped" accounted for 42% of registered returns, highlighting warehouse fulfillment gaps.</a:t>
            </a:r>
            <a:endParaRPr dirty="0"/>
          </a:p>
        </p:txBody>
      </p:sp>
      <p:sp>
        <p:nvSpPr>
          <p:cNvPr id="305" name="Google Shape;305;p23"/>
          <p:cNvSpPr txBox="1"/>
          <p:nvPr/>
        </p:nvSpPr>
        <p:spPr>
          <a:xfrm>
            <a:off x="6619875" y="3009900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Channel Operations Split: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Digital transaction values narrowly outpaced physical offline point-of-sale systems by just 4.2%.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619875" y="3933825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 Concentration Value: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top 5% of active customers drive over 30% of lifetime platform transactions.</a:t>
            </a:r>
            <a:endParaRPr/>
          </a:p>
        </p:txBody>
      </p:sp>
      <p:pic>
        <p:nvPicPr>
          <p:cNvPr id="307" name="Google Shape;30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6336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5575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4815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432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96716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67012"/>
            <a:ext cx="33971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767012"/>
            <a:ext cx="3397299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767012"/>
            <a:ext cx="33971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Recommendations</a:t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1000125" y="3605212"/>
            <a:ext cx="306694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Target Loyal Tiers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1000125" y="3900487"/>
            <a:ext cx="2920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specialized VIP benefits to transition the high-volume Silver cohort into lifelong brand advocates.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4635400" y="3605212"/>
            <a:ext cx="306710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Fulfillment Auditing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4635400" y="3900487"/>
            <a:ext cx="29210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Implement barcode scanning verification in packing lines to systematically eliminate wrong-item shipping events.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8270825" y="3605212"/>
            <a:ext cx="306694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Seasonal Campaigns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270825" y="3900487"/>
            <a:ext cx="2920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Concentrate digital marketing budgets heavily around early Q4 to ride holiday purchase momentum.</a:t>
            </a:r>
            <a:endParaRPr/>
          </a:p>
        </p:txBody>
      </p:sp>
      <p:pic>
        <p:nvPicPr>
          <p:cNvPr id="328" name="Google Shape;32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1194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400" y="311943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70825" y="3119437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14587"/>
            <a:ext cx="5214937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14587"/>
            <a:ext cx="5214937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00487"/>
            <a:ext cx="5214937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00487"/>
            <a:ext cx="5214937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Advanced SQL Database Features</a:t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1000125" y="2652712"/>
            <a:ext cx="49756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Stored Procedures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000125" y="2995612"/>
            <a:ext cx="47386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to wrap monthly analytics extraction tasks, ensuring structured automated pipeline execution.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6453187" y="2652712"/>
            <a:ext cx="49756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Triggers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6453187" y="2995612"/>
            <a:ext cx="47386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Tracks item pricing modifications instantly to preserve operational audit logs.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1000125" y="4138612"/>
            <a:ext cx="49756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Database Indexes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000125" y="4481512"/>
            <a:ext cx="47386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targeted indexes over customer email profiles and order date metrics, reducing queries by 40%.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6453187" y="4138612"/>
            <a:ext cx="49756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Views &amp; Transactions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6453187" y="4481512"/>
            <a:ext cx="47386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Exposes clean tables to Power BI dashboard feeds while shielding background database logic.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6"/>
          <p:cNvSpPr txBox="1"/>
          <p:nvPr/>
        </p:nvSpPr>
        <p:spPr>
          <a:xfrm>
            <a:off x="904875" y="2057400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 Preview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762000" y="20574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762000" y="290512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integrated operational views feed real-time customer data indicators directly into Power BI dashboards:</a:t>
            </a:r>
            <a:endParaRPr/>
          </a:p>
        </p:txBody>
      </p:sp>
      <p:pic>
        <p:nvPicPr>
          <p:cNvPr id="358" name="Google Shape;35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48387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 txBox="1"/>
          <p:nvPr/>
        </p:nvSpPr>
        <p:spPr>
          <a:xfrm>
            <a:off x="1095375" y="357187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Financial KPIs: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Rolling Monthly revenue values.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095375" y="3981450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Demographics: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Cohort trends by retention tier.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095375" y="439102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Fulfillment: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Active churn &amp; wrong-item error metrics.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904875" y="571500"/>
            <a:ext cx="1105138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Outcome</a:t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762000" y="571500"/>
            <a:ext cx="47625" cy="3714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1095375" y="31146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Deep Journey Map: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Acquired structural clarity regarding retention funnels and purchase triggers.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1095375" y="378142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VIP Segments Identified: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Mapped clear spend groups to unlock custom, targeted loyalty programs.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6619875" y="31146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Operational Tuning: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Derived real proof highlighting fulfillment bottlenecks in returns.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619875" y="378142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Scalable Analysis: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Constructed query packages ready for automated pipeline ingestion.</a:t>
            </a:r>
            <a:endParaRPr/>
          </a:p>
        </p:txBody>
      </p:sp>
      <p:pic>
        <p:nvPicPr>
          <p:cNvPr id="373" name="Google Shape;37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148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8147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48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1476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4855845" y="2528887"/>
            <a:ext cx="248031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Widescreen</PresentationFormat>
  <Paragraphs>126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Inter Medium</vt:lpstr>
      <vt:lpstr>Inter</vt:lpstr>
      <vt:lpstr>Arial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RajaPriyanka Dhanabalan</cp:lastModifiedBy>
  <cp:revision>1</cp:revision>
  <dcterms:modified xsi:type="dcterms:W3CDTF">2026-06-29T13:22:36Z</dcterms:modified>
</cp:coreProperties>
</file>